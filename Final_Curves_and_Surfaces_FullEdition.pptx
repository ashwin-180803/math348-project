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win gehlot" userId="e50db93904a27bdf" providerId="LiveId" clId="{BB3D8721-EE7C-4CED-9AEA-E0FB0CB1BBB9}"/>
    <pc:docChg chg="undo custSel modSld">
      <pc:chgData name="ashwin gehlot" userId="e50db93904a27bdf" providerId="LiveId" clId="{BB3D8721-EE7C-4CED-9AEA-E0FB0CB1BBB9}" dt="2025-12-01T05:51:22.924" v="143" actId="20577"/>
      <pc:docMkLst>
        <pc:docMk/>
      </pc:docMkLst>
      <pc:sldChg chg="delSp mod">
        <pc:chgData name="ashwin gehlot" userId="e50db93904a27bdf" providerId="LiveId" clId="{BB3D8721-EE7C-4CED-9AEA-E0FB0CB1BBB9}" dt="2025-12-01T05:39:37.530" v="0" actId="478"/>
        <pc:sldMkLst>
          <pc:docMk/>
          <pc:sldMk cId="0" sldId="256"/>
        </pc:sldMkLst>
        <pc:spChg chg="del">
          <ac:chgData name="ashwin gehlot" userId="e50db93904a27bdf" providerId="LiveId" clId="{BB3D8721-EE7C-4CED-9AEA-E0FB0CB1BBB9}" dt="2025-12-01T05:39:37.530" v="0" actId="478"/>
          <ac:spMkLst>
            <pc:docMk/>
            <pc:sldMk cId="0" sldId="256"/>
            <ac:spMk id="3" creationId="{00000000-0000-0000-0000-000000000000}"/>
          </ac:spMkLst>
        </pc:spChg>
      </pc:sldChg>
      <pc:sldChg chg="delSp mod">
        <pc:chgData name="ashwin gehlot" userId="e50db93904a27bdf" providerId="LiveId" clId="{BB3D8721-EE7C-4CED-9AEA-E0FB0CB1BBB9}" dt="2025-12-01T05:39:39.489" v="1" actId="478"/>
        <pc:sldMkLst>
          <pc:docMk/>
          <pc:sldMk cId="0" sldId="257"/>
        </pc:sldMkLst>
        <pc:spChg chg="del">
          <ac:chgData name="ashwin gehlot" userId="e50db93904a27bdf" providerId="LiveId" clId="{BB3D8721-EE7C-4CED-9AEA-E0FB0CB1BBB9}" dt="2025-12-01T05:39:39.489" v="1" actId="478"/>
          <ac:spMkLst>
            <pc:docMk/>
            <pc:sldMk cId="0" sldId="257"/>
            <ac:spMk id="3" creationId="{00000000-0000-0000-0000-000000000000}"/>
          </ac:spMkLst>
        </pc:spChg>
      </pc:sldChg>
      <pc:sldChg chg="delSp mod">
        <pc:chgData name="ashwin gehlot" userId="e50db93904a27bdf" providerId="LiveId" clId="{BB3D8721-EE7C-4CED-9AEA-E0FB0CB1BBB9}" dt="2025-12-01T05:39:41.610" v="2" actId="478"/>
        <pc:sldMkLst>
          <pc:docMk/>
          <pc:sldMk cId="0" sldId="258"/>
        </pc:sldMkLst>
        <pc:spChg chg="del">
          <ac:chgData name="ashwin gehlot" userId="e50db93904a27bdf" providerId="LiveId" clId="{BB3D8721-EE7C-4CED-9AEA-E0FB0CB1BBB9}" dt="2025-12-01T05:39:41.610" v="2" actId="478"/>
          <ac:spMkLst>
            <pc:docMk/>
            <pc:sldMk cId="0" sldId="258"/>
            <ac:spMk id="3" creationId="{00000000-0000-0000-0000-000000000000}"/>
          </ac:spMkLst>
        </pc:spChg>
      </pc:sldChg>
      <pc:sldChg chg="delSp mod">
        <pc:chgData name="ashwin gehlot" userId="e50db93904a27bdf" providerId="LiveId" clId="{BB3D8721-EE7C-4CED-9AEA-E0FB0CB1BBB9}" dt="2025-12-01T05:39:43.393" v="3" actId="478"/>
        <pc:sldMkLst>
          <pc:docMk/>
          <pc:sldMk cId="0" sldId="259"/>
        </pc:sldMkLst>
        <pc:spChg chg="del">
          <ac:chgData name="ashwin gehlot" userId="e50db93904a27bdf" providerId="LiveId" clId="{BB3D8721-EE7C-4CED-9AEA-E0FB0CB1BBB9}" dt="2025-12-01T05:39:43.393" v="3" actId="478"/>
          <ac:spMkLst>
            <pc:docMk/>
            <pc:sldMk cId="0" sldId="259"/>
            <ac:spMk id="3" creationId="{00000000-0000-0000-0000-000000000000}"/>
          </ac:spMkLst>
        </pc:spChg>
      </pc:sldChg>
      <pc:sldChg chg="delSp mod">
        <pc:chgData name="ashwin gehlot" userId="e50db93904a27bdf" providerId="LiveId" clId="{BB3D8721-EE7C-4CED-9AEA-E0FB0CB1BBB9}" dt="2025-12-01T05:39:44.653" v="4" actId="478"/>
        <pc:sldMkLst>
          <pc:docMk/>
          <pc:sldMk cId="0" sldId="260"/>
        </pc:sldMkLst>
        <pc:spChg chg="del">
          <ac:chgData name="ashwin gehlot" userId="e50db93904a27bdf" providerId="LiveId" clId="{BB3D8721-EE7C-4CED-9AEA-E0FB0CB1BBB9}" dt="2025-12-01T05:39:44.653" v="4" actId="478"/>
          <ac:spMkLst>
            <pc:docMk/>
            <pc:sldMk cId="0" sldId="260"/>
            <ac:spMk id="3" creationId="{00000000-0000-0000-0000-000000000000}"/>
          </ac:spMkLst>
        </pc:spChg>
      </pc:sldChg>
      <pc:sldChg chg="delSp mod">
        <pc:chgData name="ashwin gehlot" userId="e50db93904a27bdf" providerId="LiveId" clId="{BB3D8721-EE7C-4CED-9AEA-E0FB0CB1BBB9}" dt="2025-12-01T05:39:48.442" v="5" actId="478"/>
        <pc:sldMkLst>
          <pc:docMk/>
          <pc:sldMk cId="0" sldId="264"/>
        </pc:sldMkLst>
        <pc:spChg chg="del">
          <ac:chgData name="ashwin gehlot" userId="e50db93904a27bdf" providerId="LiveId" clId="{BB3D8721-EE7C-4CED-9AEA-E0FB0CB1BBB9}" dt="2025-12-01T05:39:48.442" v="5" actId="478"/>
          <ac:spMkLst>
            <pc:docMk/>
            <pc:sldMk cId="0" sldId="264"/>
            <ac:spMk id="3" creationId="{00000000-0000-0000-0000-000000000000}"/>
          </ac:spMkLst>
        </pc:spChg>
      </pc:sldChg>
      <pc:sldChg chg="delSp mod">
        <pc:chgData name="ashwin gehlot" userId="e50db93904a27bdf" providerId="LiveId" clId="{BB3D8721-EE7C-4CED-9AEA-E0FB0CB1BBB9}" dt="2025-12-01T05:39:49.882" v="6" actId="478"/>
        <pc:sldMkLst>
          <pc:docMk/>
          <pc:sldMk cId="0" sldId="265"/>
        </pc:sldMkLst>
        <pc:spChg chg="del">
          <ac:chgData name="ashwin gehlot" userId="e50db93904a27bdf" providerId="LiveId" clId="{BB3D8721-EE7C-4CED-9AEA-E0FB0CB1BBB9}" dt="2025-12-01T05:39:49.882" v="6" actId="478"/>
          <ac:spMkLst>
            <pc:docMk/>
            <pc:sldMk cId="0" sldId="265"/>
            <ac:spMk id="3" creationId="{00000000-0000-0000-0000-000000000000}"/>
          </ac:spMkLst>
        </pc:spChg>
      </pc:sldChg>
      <pc:sldChg chg="delSp modSp mod">
        <pc:chgData name="ashwin gehlot" userId="e50db93904a27bdf" providerId="LiveId" clId="{BB3D8721-EE7C-4CED-9AEA-E0FB0CB1BBB9}" dt="2025-12-01T05:51:22.924" v="143" actId="20577"/>
        <pc:sldMkLst>
          <pc:docMk/>
          <pc:sldMk cId="0" sldId="266"/>
        </pc:sldMkLst>
        <pc:spChg chg="del">
          <ac:chgData name="ashwin gehlot" userId="e50db93904a27bdf" providerId="LiveId" clId="{BB3D8721-EE7C-4CED-9AEA-E0FB0CB1BBB9}" dt="2025-12-01T05:39:51.415" v="7" actId="478"/>
          <ac:spMkLst>
            <pc:docMk/>
            <pc:sldMk cId="0" sldId="266"/>
            <ac:spMk id="3" creationId="{00000000-0000-0000-0000-000000000000}"/>
          </ac:spMkLst>
        </pc:spChg>
        <pc:spChg chg="mod">
          <ac:chgData name="ashwin gehlot" userId="e50db93904a27bdf" providerId="LiveId" clId="{BB3D8721-EE7C-4CED-9AEA-E0FB0CB1BBB9}" dt="2025-12-01T05:51:22.924" v="143" actId="20577"/>
          <ac:spMkLst>
            <pc:docMk/>
            <pc:sldMk cId="0" sldId="266"/>
            <ac:spMk id="4" creationId="{00000000-0000-0000-0000-000000000000}"/>
          </ac:spMkLst>
        </pc:spChg>
      </pc:sldChg>
      <pc:sldChg chg="delSp modSp mod">
        <pc:chgData name="ashwin gehlot" userId="e50db93904a27bdf" providerId="LiveId" clId="{BB3D8721-EE7C-4CED-9AEA-E0FB0CB1BBB9}" dt="2025-12-01T05:42:50.334" v="93" actId="1076"/>
        <pc:sldMkLst>
          <pc:docMk/>
          <pc:sldMk cId="0" sldId="267"/>
        </pc:sldMkLst>
        <pc:spChg chg="del">
          <ac:chgData name="ashwin gehlot" userId="e50db93904a27bdf" providerId="LiveId" clId="{BB3D8721-EE7C-4CED-9AEA-E0FB0CB1BBB9}" dt="2025-12-01T05:40:13.280" v="8" actId="478"/>
          <ac:spMkLst>
            <pc:docMk/>
            <pc:sldMk cId="0" sldId="267"/>
            <ac:spMk id="3" creationId="{00000000-0000-0000-0000-000000000000}"/>
          </ac:spMkLst>
        </pc:spChg>
        <pc:spChg chg="mod">
          <ac:chgData name="ashwin gehlot" userId="e50db93904a27bdf" providerId="LiveId" clId="{BB3D8721-EE7C-4CED-9AEA-E0FB0CB1BBB9}" dt="2025-12-01T05:42:50.334" v="93" actId="1076"/>
          <ac:spMkLst>
            <pc:docMk/>
            <pc:sldMk cId="0" sldId="267"/>
            <ac:spMk id="4" creationId="{00000000-0000-0000-0000-000000000000}"/>
          </ac:spMkLst>
        </pc:spChg>
      </pc:sldChg>
      <pc:sldChg chg="addSp delSp modSp mod">
        <pc:chgData name="ashwin gehlot" userId="e50db93904a27bdf" providerId="LiveId" clId="{BB3D8721-EE7C-4CED-9AEA-E0FB0CB1BBB9}" dt="2025-12-01T05:49:39.459" v="117" actId="20577"/>
        <pc:sldMkLst>
          <pc:docMk/>
          <pc:sldMk cId="0" sldId="268"/>
        </pc:sldMkLst>
        <pc:spChg chg="del">
          <ac:chgData name="ashwin gehlot" userId="e50db93904a27bdf" providerId="LiveId" clId="{BB3D8721-EE7C-4CED-9AEA-E0FB0CB1BBB9}" dt="2025-12-01T05:40:18.714" v="11" actId="478"/>
          <ac:spMkLst>
            <pc:docMk/>
            <pc:sldMk cId="0" sldId="268"/>
            <ac:spMk id="3" creationId="{00000000-0000-0000-0000-000000000000}"/>
          </ac:spMkLst>
        </pc:spChg>
        <pc:spChg chg="add del mod">
          <ac:chgData name="ashwin gehlot" userId="e50db93904a27bdf" providerId="LiveId" clId="{BB3D8721-EE7C-4CED-9AEA-E0FB0CB1BBB9}" dt="2025-12-01T05:49:39.459" v="117" actId="20577"/>
          <ac:spMkLst>
            <pc:docMk/>
            <pc:sldMk cId="0" sldId="268"/>
            <ac:spMk id="4" creationId="{00000000-0000-0000-0000-000000000000}"/>
          </ac:spMkLst>
        </pc:spChg>
      </pc:sldChg>
      <pc:sldChg chg="delSp modSp mod">
        <pc:chgData name="ashwin gehlot" userId="e50db93904a27bdf" providerId="LiveId" clId="{BB3D8721-EE7C-4CED-9AEA-E0FB0CB1BBB9}" dt="2025-12-01T05:49:56.025" v="137" actId="20577"/>
        <pc:sldMkLst>
          <pc:docMk/>
          <pc:sldMk cId="0" sldId="269"/>
        </pc:sldMkLst>
        <pc:spChg chg="del">
          <ac:chgData name="ashwin gehlot" userId="e50db93904a27bdf" providerId="LiveId" clId="{BB3D8721-EE7C-4CED-9AEA-E0FB0CB1BBB9}" dt="2025-12-01T05:40:25.185" v="12" actId="478"/>
          <ac:spMkLst>
            <pc:docMk/>
            <pc:sldMk cId="0" sldId="269"/>
            <ac:spMk id="3" creationId="{00000000-0000-0000-0000-000000000000}"/>
          </ac:spMkLst>
        </pc:spChg>
        <pc:spChg chg="mod">
          <ac:chgData name="ashwin gehlot" userId="e50db93904a27bdf" providerId="LiveId" clId="{BB3D8721-EE7C-4CED-9AEA-E0FB0CB1BBB9}" dt="2025-12-01T05:49:56.025" v="137" actId="20577"/>
          <ac:spMkLst>
            <pc:docMk/>
            <pc:sldMk cId="0" sldId="269"/>
            <ac:spMk id="4" creationId="{00000000-0000-0000-0000-000000000000}"/>
          </ac:spMkLst>
        </pc:spChg>
      </pc:sldChg>
      <pc:sldChg chg="delSp mod">
        <pc:chgData name="ashwin gehlot" userId="e50db93904a27bdf" providerId="LiveId" clId="{BB3D8721-EE7C-4CED-9AEA-E0FB0CB1BBB9}" dt="2025-12-01T05:40:29.567" v="13" actId="478"/>
        <pc:sldMkLst>
          <pc:docMk/>
          <pc:sldMk cId="0" sldId="270"/>
        </pc:sldMkLst>
        <pc:spChg chg="del">
          <ac:chgData name="ashwin gehlot" userId="e50db93904a27bdf" providerId="LiveId" clId="{BB3D8721-EE7C-4CED-9AEA-E0FB0CB1BBB9}" dt="2025-12-01T05:40:29.567" v="13" actId="478"/>
          <ac:spMkLst>
            <pc:docMk/>
            <pc:sldMk cId="0" sldId="270"/>
            <ac:spMk id="3" creationId="{00000000-0000-0000-0000-000000000000}"/>
          </ac:spMkLst>
        </pc:spChg>
      </pc:sldChg>
      <pc:sldChg chg="delSp modSp mod">
        <pc:chgData name="ashwin gehlot" userId="e50db93904a27bdf" providerId="LiveId" clId="{BB3D8721-EE7C-4CED-9AEA-E0FB0CB1BBB9}" dt="2025-12-01T05:40:38.368" v="15" actId="1076"/>
        <pc:sldMkLst>
          <pc:docMk/>
          <pc:sldMk cId="0" sldId="271"/>
        </pc:sldMkLst>
        <pc:spChg chg="del">
          <ac:chgData name="ashwin gehlot" userId="e50db93904a27bdf" providerId="LiveId" clId="{BB3D8721-EE7C-4CED-9AEA-E0FB0CB1BBB9}" dt="2025-12-01T05:40:35.738" v="14" actId="478"/>
          <ac:spMkLst>
            <pc:docMk/>
            <pc:sldMk cId="0" sldId="271"/>
            <ac:spMk id="3" creationId="{00000000-0000-0000-0000-000000000000}"/>
          </ac:spMkLst>
        </pc:spChg>
        <pc:spChg chg="mod">
          <ac:chgData name="ashwin gehlot" userId="e50db93904a27bdf" providerId="LiveId" clId="{BB3D8721-EE7C-4CED-9AEA-E0FB0CB1BBB9}" dt="2025-12-01T05:40:38.368" v="15" actId="1076"/>
          <ac:spMkLst>
            <pc:docMk/>
            <pc:sldMk cId="0" sldId="271"/>
            <ac:spMk id="4" creationId="{00000000-0000-0000-0000-000000000000}"/>
          </ac:spMkLst>
        </pc:spChg>
      </pc:sldChg>
      <pc:sldChg chg="delSp modSp mod">
        <pc:chgData name="ashwin gehlot" userId="e50db93904a27bdf" providerId="LiveId" clId="{BB3D8721-EE7C-4CED-9AEA-E0FB0CB1BBB9}" dt="2025-12-01T05:40:44.458" v="17" actId="1076"/>
        <pc:sldMkLst>
          <pc:docMk/>
          <pc:sldMk cId="0" sldId="272"/>
        </pc:sldMkLst>
        <pc:spChg chg="del">
          <ac:chgData name="ashwin gehlot" userId="e50db93904a27bdf" providerId="LiveId" clId="{BB3D8721-EE7C-4CED-9AEA-E0FB0CB1BBB9}" dt="2025-12-01T05:40:41.037" v="16" actId="478"/>
          <ac:spMkLst>
            <pc:docMk/>
            <pc:sldMk cId="0" sldId="272"/>
            <ac:spMk id="3" creationId="{00000000-0000-0000-0000-000000000000}"/>
          </ac:spMkLst>
        </pc:spChg>
        <pc:spChg chg="mod">
          <ac:chgData name="ashwin gehlot" userId="e50db93904a27bdf" providerId="LiveId" clId="{BB3D8721-EE7C-4CED-9AEA-E0FB0CB1BBB9}" dt="2025-12-01T05:40:44.458" v="17" actId="1076"/>
          <ac:spMkLst>
            <pc:docMk/>
            <pc:sldMk cId="0" sldId="272"/>
            <ac:spMk id="4" creationId="{00000000-0000-0000-0000-000000000000}"/>
          </ac:spMkLst>
        </pc:spChg>
      </pc:sldChg>
      <pc:sldChg chg="delSp modSp mod">
        <pc:chgData name="ashwin gehlot" userId="e50db93904a27bdf" providerId="LiveId" clId="{BB3D8721-EE7C-4CED-9AEA-E0FB0CB1BBB9}" dt="2025-12-01T05:41:08.770" v="19" actId="1076"/>
        <pc:sldMkLst>
          <pc:docMk/>
          <pc:sldMk cId="0" sldId="273"/>
        </pc:sldMkLst>
        <pc:spChg chg="del">
          <ac:chgData name="ashwin gehlot" userId="e50db93904a27bdf" providerId="LiveId" clId="{BB3D8721-EE7C-4CED-9AEA-E0FB0CB1BBB9}" dt="2025-12-01T05:40:47.654" v="18" actId="478"/>
          <ac:spMkLst>
            <pc:docMk/>
            <pc:sldMk cId="0" sldId="273"/>
            <ac:spMk id="3" creationId="{00000000-0000-0000-0000-000000000000}"/>
          </ac:spMkLst>
        </pc:spChg>
        <pc:spChg chg="mod">
          <ac:chgData name="ashwin gehlot" userId="e50db93904a27bdf" providerId="LiveId" clId="{BB3D8721-EE7C-4CED-9AEA-E0FB0CB1BBB9}" dt="2025-12-01T05:41:08.770" v="19" actId="1076"/>
          <ac:spMkLst>
            <pc:docMk/>
            <pc:sldMk cId="0" sldId="273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Curves &amp; Surfaces Calculator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800">
                <a:solidFill>
                  <a:srgbClr val="FFFFFF"/>
                </a:solidFill>
              </a:defRPr>
            </a:pPr>
            <a:r>
              <a:t>A complete Python-powered symbolic &amp; numerical geometry platform.</a:t>
            </a:r>
            <a:br/>
            <a:r>
              <a:t>Includes visuals, step-by-step derivations, code snippets, and styled themes.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400">
                <a:solidFill>
                  <a:srgbClr val="FFFFFF"/>
                </a:solidFill>
              </a:defRPr>
            </a:pPr>
            <a:r>
              <a:t>- Plots high-resolution 2D/3D curves and surfaces</a:t>
            </a:r>
            <a:br/>
            <a:r>
              <a:t>- Computes curvature, torsion, Frenet–Serret frame</a:t>
            </a:r>
            <a:br/>
            <a:r>
              <a:t>- Computes First/Second Fundamental Forms</a:t>
            </a:r>
            <a:br/>
            <a:r>
              <a:t>- Computes Gaussian/Mean curvature &amp; Christoffel symbols</a:t>
            </a:r>
            <a:br/>
            <a:r>
              <a:t>- Uses SymPy, NumPy, Plotly, Django</a:t>
            </a:r>
            <a:br/>
            <a:r>
              <a:t>- Full transparency &amp; modifiable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rPr dirty="0"/>
              <a:t>Why Better Than Mathematica &amp; Online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400">
                <a:solidFill>
                  <a:srgbClr val="FFFFFF"/>
                </a:solidFill>
              </a:defRPr>
            </a:pPr>
            <a:r>
              <a:t>- Free, open-source, local Python computation</a:t>
            </a:r>
            <a:br/>
            <a:r>
              <a:t>- Real symbolic manipulation using SymPy</a:t>
            </a:r>
            <a:br/>
            <a:r>
              <a:t>- Fully customizable functions &amp; UI</a:t>
            </a:r>
            <a:br/>
            <a:r>
              <a:t>- 3D graphs rendered with Plotly WebGL</a:t>
            </a:r>
            <a:br/>
            <a:r>
              <a:t>- Online graphers cannot compute symbolic curvature</a:t>
            </a:r>
            <a:br/>
            <a:r>
              <a:t>- Mathematica is closed-source &amp; license-restricted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Python Code Example – Frenet–Serret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Frenet–Serret Computation:</a:t>
            </a:r>
            <a:br/>
            <a:br/>
            <a:r>
              <a:t>T = r'(t) / |r'(t)|</a:t>
            </a:r>
            <a:br/>
            <a:r>
              <a:t>N = T'(t) / |T'(t)|</a:t>
            </a:r>
            <a:br/>
            <a:r>
              <a:t>B = T × N</a:t>
            </a:r>
            <a:br/>
            <a:r>
              <a:t>κ = |r' × r''| / |r'|³</a:t>
            </a:r>
            <a:br/>
            <a:r>
              <a:t>τ = ((r' × r'') · r''') / |r' × r''|²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Python Code Example – Surface Curvatures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t>E = Xu·Xu     F = Xu·Xv     G = Xv·Xv</a:t>
            </a:r>
            <a:br/>
            <a:r>
              <a:t>L = n·Xuu     M = n·Xuv     N = n·Xvv</a:t>
            </a:r>
            <a:br/>
            <a:br/>
            <a:r>
              <a:t>Gaussian Curvature:</a:t>
            </a:r>
            <a:br/>
            <a:r>
              <a:t>K = (LN - M²) / (EG - F²)</a:t>
            </a:r>
            <a:br/>
            <a:br/>
            <a:r>
              <a:t>Mean Curvature:</a:t>
            </a:r>
            <a:br/>
            <a:r>
              <a:t>H = (EN + GL - 2FM) / (2(EG - F²))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Circle Example Diagram</a:t>
            </a:r>
          </a:p>
        </p:txBody>
      </p:sp>
      <p:pic>
        <p:nvPicPr>
          <p:cNvPr id="3" name="Picture 2" descr="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64008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Helix Example Diagram</a:t>
            </a:r>
          </a:p>
        </p:txBody>
      </p:sp>
      <p:pic>
        <p:nvPicPr>
          <p:cNvPr id="3" name="Picture 2" descr="hel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64008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Paraboloid Example Diagram</a:t>
            </a:r>
          </a:p>
        </p:txBody>
      </p:sp>
      <p:pic>
        <p:nvPicPr>
          <p:cNvPr id="3" name="Picture 2" descr="parabolo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64008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Formula Animation (Step-by-Step Reveal)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400">
                <a:solidFill>
                  <a:srgbClr val="FFFFFF"/>
                </a:solidFill>
              </a:defRPr>
            </a:pPr>
            <a:r>
              <a:t>Step 1: Compute Xu, Xv</a:t>
            </a:r>
            <a:br/>
            <a:r>
              <a:t>Step 2: Compute E = Xu·Xu, F = Xu·Xv, G = Xv·Xv</a:t>
            </a:r>
            <a:br/>
            <a:r>
              <a:t>Step 3: Compute Xuu, Xuv, Xvv</a:t>
            </a:r>
            <a:br/>
            <a:r>
              <a:t>Step 4: Compute L, M, N via n·second derivatives</a:t>
            </a:r>
            <a:br/>
            <a:r>
              <a:t>Step 5: Compute K = (LN – M²) / (EG – F²)</a:t>
            </a:r>
            <a:br/>
            <a:r>
              <a:t>Step 6: Compute H = (EN + GL – 2FM) / (2(EG – F²))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400">
                <a:solidFill>
                  <a:srgbClr val="FFFFFF"/>
                </a:solidFill>
              </a:defRPr>
            </a:pPr>
            <a:r>
              <a:t>Your tool is now a complete mathematical engine:</a:t>
            </a:r>
            <a:br/>
            <a:r>
              <a:t>- Symbolic &amp; numeric geometry</a:t>
            </a:r>
            <a:br/>
            <a:r>
              <a:t>- Better than online tools</a:t>
            </a:r>
            <a:br/>
            <a:r>
              <a:t>- Expandable, customizable, and transparent</a:t>
            </a:r>
            <a:br/>
            <a:r>
              <a:t>- Suitable for academic presentations &amp;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rPr dirty="0"/>
              <a:t>Comparison vs. Mathematica (Expanded)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41235"/>
            <a:ext cx="82296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dirty="0"/>
              <a:t>- No licensing cost – Mathematica requires expensive yearly </a:t>
            </a:r>
            <a:r>
              <a:rPr lang="en-US" dirty="0"/>
              <a:t>							</a:t>
            </a:r>
            <a:r>
              <a:rPr dirty="0"/>
              <a:t>fees.</a:t>
            </a:r>
            <a:br>
              <a:rPr dirty="0"/>
            </a:br>
            <a:r>
              <a:rPr dirty="0"/>
              <a:t>- Python ecosystem – integrate NumPy, </a:t>
            </a:r>
            <a:r>
              <a:rPr dirty="0" err="1"/>
              <a:t>SymPy</a:t>
            </a:r>
            <a:r>
              <a:rPr dirty="0"/>
              <a:t>, SciPy, </a:t>
            </a:r>
            <a:r>
              <a:rPr lang="en-US" dirty="0"/>
              <a:t>									</a:t>
            </a:r>
            <a:r>
              <a:rPr dirty="0"/>
              <a:t>Matplotlib, </a:t>
            </a:r>
            <a:r>
              <a:rPr dirty="0" err="1"/>
              <a:t>Plotly</a:t>
            </a:r>
            <a:r>
              <a:rPr dirty="0"/>
              <a:t>.</a:t>
            </a:r>
            <a:br>
              <a:rPr dirty="0"/>
            </a:br>
            <a:r>
              <a:rPr dirty="0"/>
              <a:t>- Runs inside a browser – no heavy software installation.</a:t>
            </a:r>
            <a:br>
              <a:rPr dirty="0"/>
            </a:br>
            <a:r>
              <a:rPr dirty="0"/>
              <a:t>- Customizable UI – modify HTML/CSS/JS freely.</a:t>
            </a:r>
            <a:br>
              <a:rPr dirty="0"/>
            </a:br>
            <a:r>
              <a:rPr dirty="0"/>
              <a:t>- Direct access to symbolic engine – no black-box algebra steps.</a:t>
            </a:r>
            <a:br>
              <a:rPr dirty="0"/>
            </a:br>
            <a:r>
              <a:rPr dirty="0"/>
              <a:t>- Fully transparent algorithms – user sees exactly how κ, τ, K, H </a:t>
            </a:r>
            <a:r>
              <a:rPr lang="en-US" dirty="0"/>
              <a:t>									</a:t>
            </a:r>
            <a:r>
              <a:rPr dirty="0"/>
              <a:t>are computed.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Comparison vs Online Graphing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019" y="1645920"/>
            <a:ext cx="82296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dirty="0"/>
              <a:t>- Most online tools only graph – no symbolic differentiation.</a:t>
            </a:r>
            <a:br>
              <a:rPr dirty="0"/>
            </a:br>
            <a:r>
              <a:rPr dirty="0"/>
              <a:t>- No curvature, torsion, or </a:t>
            </a:r>
            <a:r>
              <a:rPr dirty="0" err="1"/>
              <a:t>Frenet</a:t>
            </a:r>
            <a:r>
              <a:rPr dirty="0"/>
              <a:t>–Serret in Desmos, GeoGebra, </a:t>
            </a:r>
            <a:r>
              <a:rPr dirty="0" err="1"/>
              <a:t>Symbolab</a:t>
            </a:r>
            <a:r>
              <a:rPr dirty="0"/>
              <a:t>.</a:t>
            </a:r>
            <a:br>
              <a:rPr dirty="0"/>
            </a:br>
            <a:r>
              <a:rPr dirty="0"/>
              <a:t>- No surface differential geometry (E, F, G, L, M, N).</a:t>
            </a:r>
            <a:br>
              <a:rPr dirty="0"/>
            </a:br>
            <a:r>
              <a:rPr dirty="0"/>
              <a:t>- No Gaussian/Mean curvature visualization.</a:t>
            </a:r>
            <a:br>
              <a:rPr dirty="0"/>
            </a:br>
            <a:r>
              <a:rPr dirty="0"/>
              <a:t>- No principal curvature calculations (k₁, k₂).</a:t>
            </a:r>
            <a:br>
              <a:rPr dirty="0"/>
            </a:br>
            <a:r>
              <a:rPr dirty="0"/>
              <a:t>- Your platform: full differential-geometry suite.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Advanced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dirty="0"/>
              <a:t>- Local Python Execution – accuracy guaranteed.</a:t>
            </a:r>
            <a:br>
              <a:rPr dirty="0"/>
            </a:br>
            <a:r>
              <a:rPr dirty="0"/>
              <a:t>- </a:t>
            </a:r>
            <a:r>
              <a:rPr dirty="0" err="1"/>
              <a:t>Plotly</a:t>
            </a:r>
            <a:r>
              <a:rPr dirty="0"/>
              <a:t> WebGL – real 3D rotation and high performance.</a:t>
            </a:r>
            <a:br>
              <a:rPr dirty="0"/>
            </a:br>
            <a:r>
              <a:rPr dirty="0"/>
              <a:t>- Custom curve/surface input – user types any X(</a:t>
            </a:r>
            <a:r>
              <a:rPr dirty="0" err="1"/>
              <a:t>u,v</a:t>
            </a:r>
            <a:r>
              <a:rPr dirty="0"/>
              <a:t>) or r(t).</a:t>
            </a:r>
            <a:br>
              <a:rPr dirty="0"/>
            </a:br>
            <a:r>
              <a:rPr dirty="0"/>
              <a:t>- Supports educational demonstrations – step-by-step math.</a:t>
            </a:r>
            <a:br>
              <a:rPr dirty="0"/>
            </a:br>
            <a:r>
              <a:rPr dirty="0"/>
              <a:t>- Research-ready – exact symbolic forms exported as LaTeX.</a:t>
            </a:r>
            <a:br>
              <a:rPr dirty="0"/>
            </a:br>
            <a:r>
              <a:rPr dirty="0"/>
              <a:t>- Supports extremely complex surfaces – torus, helicoid, paraboloid, etc.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Workflow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dirty="0"/>
              <a:t>- 1. User inputs curve/surface.</a:t>
            </a:r>
            <a:br>
              <a:rPr dirty="0"/>
            </a:br>
            <a:r>
              <a:rPr dirty="0"/>
              <a:t>- 2. Backend computes symbolic derivatives automatically.</a:t>
            </a:r>
            <a:br>
              <a:rPr dirty="0"/>
            </a:br>
            <a:r>
              <a:rPr dirty="0"/>
              <a:t>- 3. Numerical values generated using NumPy.</a:t>
            </a:r>
            <a:br>
              <a:rPr dirty="0"/>
            </a:br>
            <a:r>
              <a:rPr dirty="0"/>
              <a:t>- 4. 3D graph rendered with </a:t>
            </a:r>
            <a:r>
              <a:rPr dirty="0" err="1"/>
              <a:t>Plotly</a:t>
            </a:r>
            <a:r>
              <a:rPr dirty="0"/>
              <a:t> instantly.</a:t>
            </a:r>
            <a:br>
              <a:rPr dirty="0"/>
            </a:br>
            <a:r>
              <a:rPr dirty="0"/>
              <a:t>- 5. </a:t>
            </a:r>
            <a:r>
              <a:rPr dirty="0" err="1"/>
              <a:t>MathJax</a:t>
            </a:r>
            <a:r>
              <a:rPr dirty="0"/>
              <a:t> renders LaTeX beautifully in the browser.</a:t>
            </a:r>
            <a:br>
              <a:rPr dirty="0"/>
            </a:br>
            <a:r>
              <a:rPr dirty="0"/>
              <a:t>- No workflow like this exists in Desmos, GeoGebra, or Mathematica.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Real-World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400">
                <a:solidFill>
                  <a:srgbClr val="FFFFFF"/>
                </a:solidFill>
              </a:defRPr>
            </a:pPr>
            <a:r>
              <a:t>- Engineering: beam bending curves (κ), torsion stresses (τ).</a:t>
            </a:r>
            <a:br/>
            <a:r>
              <a:t>- Robotics: path curvature for manipulators.</a:t>
            </a:r>
            <a:br/>
            <a:r>
              <a:t>- Computer graphics: surface normals &amp; curvature for shading.</a:t>
            </a:r>
            <a:br/>
            <a:r>
              <a:t>- Physics: geodesics on curved surfaces, minimal surfaces.</a:t>
            </a:r>
            <a:br/>
            <a:r>
              <a:t>- Mathematics: teaching differential geometry visualizations.</a:t>
            </a:r>
            <a:br/>
            <a:r>
              <a:t>- Architecture: toroidal &amp; curved structural surfaces.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rPr dirty="0"/>
              <a:t>User Guide – How to Use the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411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dirty="0"/>
              <a:t>1. Select Mode (Curve / Surface)</a:t>
            </a:r>
            <a:br>
              <a:rPr dirty="0"/>
            </a:br>
            <a:r>
              <a:rPr dirty="0"/>
              <a:t>2. Choose a curve or surface from the dropdown</a:t>
            </a:r>
            <a:br>
              <a:rPr dirty="0"/>
            </a:br>
            <a:r>
              <a:rPr dirty="0"/>
              <a:t>3. Adjust parameters (a, b, ranges, resolution)</a:t>
            </a:r>
            <a:br>
              <a:rPr dirty="0"/>
            </a:br>
            <a:r>
              <a:rPr dirty="0"/>
              <a:t>4. Choose a quantity (e.g., curvature, fundamental forms)</a:t>
            </a:r>
            <a:br>
              <a:rPr dirty="0"/>
            </a:br>
            <a:r>
              <a:rPr dirty="0"/>
              <a:t>5. For symbolic surface calculations, check 'Compute Symbolic'</a:t>
            </a:r>
            <a:br>
              <a:rPr dirty="0"/>
            </a:br>
            <a:r>
              <a:rPr dirty="0"/>
              <a:t>6. Press 'Compute &amp; Plot'</a:t>
            </a:r>
            <a:br>
              <a:rPr dirty="0"/>
            </a:br>
            <a:br>
              <a:rPr dirty="0"/>
            </a:br>
            <a:r>
              <a:rPr dirty="0"/>
              <a:t>Results displayed:</a:t>
            </a:r>
            <a:br>
              <a:rPr dirty="0"/>
            </a:br>
            <a:r>
              <a:rPr dirty="0"/>
              <a:t>- Interactive </a:t>
            </a:r>
            <a:r>
              <a:rPr dirty="0" err="1"/>
              <a:t>Plotly</a:t>
            </a:r>
            <a:r>
              <a:rPr dirty="0"/>
              <a:t> graph</a:t>
            </a:r>
            <a:br>
              <a:rPr dirty="0"/>
            </a:br>
            <a:r>
              <a:rPr dirty="0"/>
              <a:t>- Numerical table data</a:t>
            </a:r>
            <a:br>
              <a:rPr dirty="0"/>
            </a:br>
            <a:r>
              <a:rPr dirty="0"/>
              <a:t>- Symbolic LaTeX-rendered formulas (</a:t>
            </a:r>
            <a:r>
              <a:rPr dirty="0" err="1"/>
              <a:t>MathJax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rPr dirty="0"/>
              <a:t>Behind the Scenes – Code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16656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dirty="0"/>
              <a:t>Frontend (Browser):</a:t>
            </a:r>
            <a:br>
              <a:rPr dirty="0"/>
            </a:br>
            <a:r>
              <a:rPr dirty="0"/>
              <a:t>- HTML/CSS interface</a:t>
            </a:r>
            <a:br>
              <a:rPr dirty="0"/>
            </a:br>
            <a:r>
              <a:rPr dirty="0"/>
              <a:t>- JavaScript (script.js) sends AJAX requests</a:t>
            </a:r>
            <a:br>
              <a:rPr dirty="0"/>
            </a:br>
            <a:r>
              <a:rPr dirty="0"/>
              <a:t>- </a:t>
            </a:r>
            <a:r>
              <a:rPr dirty="0" err="1"/>
              <a:t>Plotly</a:t>
            </a:r>
            <a:r>
              <a:rPr dirty="0"/>
              <a:t> renders 2D/3D graphs</a:t>
            </a:r>
            <a:br>
              <a:rPr dirty="0"/>
            </a:br>
            <a:br>
              <a:rPr dirty="0"/>
            </a:br>
            <a:r>
              <a:rPr dirty="0"/>
              <a:t>Backend (Django):</a:t>
            </a:r>
            <a:br>
              <a:rPr dirty="0"/>
            </a:br>
            <a:r>
              <a:rPr dirty="0"/>
              <a:t>- views.py handles /compute/ requests</a:t>
            </a:r>
            <a:br>
              <a:rPr dirty="0"/>
            </a:br>
            <a:r>
              <a:rPr dirty="0"/>
              <a:t>- utils.py performs symbolic &amp; numeric math</a:t>
            </a:r>
            <a:br>
              <a:rPr dirty="0"/>
            </a:br>
            <a:r>
              <a:rPr dirty="0"/>
              <a:t>- </a:t>
            </a:r>
            <a:r>
              <a:rPr dirty="0" err="1"/>
              <a:t>SymPy</a:t>
            </a:r>
            <a:r>
              <a:rPr dirty="0"/>
              <a:t> = symbolic derivatives, curvature, forms</a:t>
            </a:r>
            <a:br>
              <a:rPr dirty="0"/>
            </a:br>
            <a:r>
              <a:rPr dirty="0"/>
              <a:t>- NumPy = fast numerical evaluation</a:t>
            </a:r>
            <a:br>
              <a:rPr dirty="0"/>
            </a:br>
            <a:br>
              <a:rPr dirty="0"/>
            </a:br>
            <a:r>
              <a:rPr dirty="0"/>
              <a:t>Result Pipeline:</a:t>
            </a:r>
            <a:br>
              <a:rPr dirty="0"/>
            </a:br>
            <a:r>
              <a:rPr dirty="0"/>
              <a:t>User → JS → Django → </a:t>
            </a:r>
            <a:r>
              <a:rPr dirty="0" err="1"/>
              <a:t>SymPy</a:t>
            </a:r>
            <a:r>
              <a:rPr dirty="0"/>
              <a:t>/NumPy → JSON → </a:t>
            </a:r>
            <a:r>
              <a:rPr dirty="0" err="1"/>
              <a:t>Plotly</a:t>
            </a:r>
            <a:r>
              <a:rPr dirty="0"/>
              <a:t>/</a:t>
            </a:r>
            <a:r>
              <a:rPr dirty="0" err="1"/>
              <a:t>MathJax</a:t>
            </a:r>
            <a:r>
              <a:rPr dirty="0"/>
              <a:t> → User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Future Work &amp;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638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dirty="0"/>
              <a:t>- Add geodesics computation for surface curves</a:t>
            </a:r>
            <a:br>
              <a:rPr dirty="0"/>
            </a:br>
            <a:r>
              <a:rPr dirty="0"/>
              <a:t>- Add heatmaps for curvature on surfaces</a:t>
            </a:r>
            <a:br>
              <a:rPr dirty="0"/>
            </a:br>
            <a:r>
              <a:rPr dirty="0"/>
              <a:t>- Add export options (PDF, PNG, CSV, symbolic)</a:t>
            </a:r>
            <a:br>
              <a:rPr dirty="0"/>
            </a:br>
            <a:r>
              <a:rPr dirty="0"/>
              <a:t>- Add animation mode (moving point along curve)</a:t>
            </a:r>
            <a:br>
              <a:rPr dirty="0"/>
            </a:br>
            <a:r>
              <a:rPr dirty="0"/>
              <a:t>- Add 4D hypersurface support</a:t>
            </a:r>
            <a:br>
              <a:rPr dirty="0"/>
            </a:br>
            <a:r>
              <a:rPr dirty="0"/>
              <a:t>- Optimize symbolic computations for heavy surfaces</a:t>
            </a:r>
            <a:br>
              <a:rPr dirty="0"/>
            </a:br>
            <a:r>
              <a:rPr dirty="0"/>
              <a:t>- Add mobile-friendly responsive UI</a:t>
            </a:r>
            <a:br>
              <a:rPr dirty="0"/>
            </a:br>
            <a:r>
              <a:rPr dirty="0"/>
              <a:t>- Add saving/loading user custom equations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1133</Words>
  <Application>Microsoft Office PowerPoint</Application>
  <PresentationFormat>On-screen Show (4:3)</PresentationFormat>
  <Paragraphs>48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Curves &amp; Surfaces Calculator</vt:lpstr>
      <vt:lpstr>Project Overview</vt:lpstr>
      <vt:lpstr>Why Better Than Mathematica &amp; Online Tools</vt:lpstr>
      <vt:lpstr>Python Code Example – Frenet–Serret</vt:lpstr>
      <vt:lpstr>Python Code Example – Surface Curvatures</vt:lpstr>
      <vt:lpstr>Circle Example Diagram</vt:lpstr>
      <vt:lpstr>Helix Example Diagram</vt:lpstr>
      <vt:lpstr>Paraboloid Example Diagram</vt:lpstr>
      <vt:lpstr>Formula Animation (Step-by-Step Reveal)</vt:lpstr>
      <vt:lpstr>Conclusion</vt:lpstr>
      <vt:lpstr>Comparison vs. Mathematica (Expanded)</vt:lpstr>
      <vt:lpstr>Comparison vs Online Graphing Tools</vt:lpstr>
      <vt:lpstr>Advanced Advantages</vt:lpstr>
      <vt:lpstr>Workflow Advantages</vt:lpstr>
      <vt:lpstr>Real-World Applications</vt:lpstr>
      <vt:lpstr>User Guide – How to Use the Interface</vt:lpstr>
      <vt:lpstr>Behind the Scenes – Code Architecture</vt:lpstr>
      <vt:lpstr>Future Work &amp; Improvements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ashwin gehlot</cp:lastModifiedBy>
  <cp:revision>1</cp:revision>
  <dcterms:created xsi:type="dcterms:W3CDTF">2013-01-27T09:14:16Z</dcterms:created>
  <dcterms:modified xsi:type="dcterms:W3CDTF">2025-12-01T05:51:27Z</dcterms:modified>
  <cp:category/>
</cp:coreProperties>
</file>